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27E2-6C2D-7790-78FD-61D4E3F2DE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77E7A-0050-90C0-7175-34D50758B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26679-6BBF-D5E5-1275-6251CBE57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A0A56-82E9-11C3-34EC-DF2F4F45A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C1D71-F41F-689F-0797-F0A56822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75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5F430-A51D-20AC-84F6-B107657AF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3FE12-5B82-C90C-78E8-58A595FD6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CAC9-A933-ECC9-C9D3-D551BABB0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DDEDE-8E59-F74C-C843-54CA2DAF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A79B6-217E-BA1B-96C7-39634B32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150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ED96-CA4E-B172-CB88-EC510092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8330E-C17D-E643-BFC9-A77A348E5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7F6E-C497-A3D9-D238-5AD36668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AE8F37-1ACF-B19D-BFCA-0919A0DF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0210F-DB64-8913-3465-11A2F093D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092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A897-3757-C3CB-AABA-C3CC24A9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C32B3-91B6-3A0A-462B-89163149C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EDC8C-0CFC-B744-27CD-82D04745B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AFC620-5C75-1A7E-CF84-85862E5B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10CB2-4492-A2C6-330B-399B33BB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AA270-3D52-983F-0E8B-055070B1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17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B33F7-DDDC-2D6F-66CC-F82D7F7E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DDE75-5B2B-0DCC-B8AD-BC1E53641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32AF8-9C0E-2B15-7DD6-6B56E1E27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91845-F4C7-B8C5-10B0-3207A33CB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228C4-085E-D7AD-E034-70E2BECA5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AA474-20BF-F213-B676-CB074D88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DFAF6-D5C6-8228-D344-84B3EA8B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75FE25-D243-8983-327E-032949FC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10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96C75-7795-6363-5E16-498961941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7FA87-872A-1D9D-53EB-4D7F4198F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82BFC-2338-B0FE-2DBE-20C5CE2A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C8E44-BE70-A512-F74A-DCE737548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54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64D806-8DC5-C8AF-5FA5-558762E4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D00FE-B517-9A1E-4B73-8D5CC137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C4C77-FB19-17DE-D3D9-15903603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68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4F5A-CBBD-E88B-1A47-8DBACEC0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AEFA8-4A26-4B2E-A951-B813D164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FC1EC-F398-140A-63B9-E9D2205CF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4656F-EBF8-A1CF-68E4-E2A00F95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17DAE-4081-7D72-5F74-3FC792B8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E4A6C-5C9A-C53D-21EE-D1DF10D9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173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F7A9-68B4-EDAC-A7A1-14B0E9B0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3D580-023E-2781-2163-84F175FC7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16E99B-E182-6422-E489-098D596CF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73B9F-4953-5386-AFBC-1BA6B54FA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98968-F8AF-E89C-23B2-7B4BA232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93C90-24F2-01C5-3A6B-8E24AAA7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210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DFCB7-9BB4-7CC9-BED4-B298046D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6AC3-33DD-8255-C2A7-ED3F7C4C7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D3DD5-80D8-25D9-05E4-D6D8084E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26058-9EFD-66E9-477B-E11100AE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8971A-C847-65F8-FE5F-4C3040EA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E9A335-55A8-598E-C72D-B4E5132D99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B0DA9-3F3D-606E-87D5-C0BA50737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E15DE-CD93-2CED-8B0C-826B1B711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96DA-1D37-52FF-36DB-C1C0DB9F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EECF6-5E80-3427-2AE8-B5B2BDC9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04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B4FB3F-07EF-41E9-9638-0DB5EC66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43CB8-3567-2589-9307-CFE84AD3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72B94-F87E-F5BC-3D29-2979502BE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BB68A-FF11-4E9B-A8C3-159C75E77921}" type="datetimeFigureOut">
              <a:rPr lang="en-GB" smtClean="0"/>
              <a:t>12/02/2025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787F2-0FCD-74EE-85D7-D2CCC1B22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84361-7068-CBE4-34A1-CB9BB5981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535B9-0D43-4E90-961B-478CBF75AA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73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2924-AE8E-356D-B9EF-234CC29A53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Crude Oil Futures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0DC99-FBE7-C94C-C805-440C8BD8F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en-GB"/>
              <a:t>Anantajit Raja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5572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76C7-BBCA-3A53-8791-ACCCE249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Structure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EE2B2-3A65-B99B-221F-B02E72BF3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Multi-level </a:t>
            </a:r>
            <a:r>
              <a:rPr lang="en-GB" dirty="0" err="1"/>
              <a:t>hashmap</a:t>
            </a:r>
            <a:r>
              <a:rPr lang="en-GB" dirty="0"/>
              <a:t> to store data and allow for O(1) access</a:t>
            </a:r>
          </a:p>
          <a:p>
            <a:pPr>
              <a:lnSpc>
                <a:spcPct val="150000"/>
              </a:lnSpc>
            </a:pPr>
            <a:r>
              <a:rPr lang="en-GB" dirty="0"/>
              <a:t>3 level hierarchy using product, month, year as keys</a:t>
            </a:r>
          </a:p>
          <a:p>
            <a:pPr>
              <a:lnSpc>
                <a:spcPct val="150000"/>
              </a:lnSpc>
            </a:pPr>
            <a:r>
              <a:rPr lang="en-GB" dirty="0"/>
              <a:t>Value: expiry date</a:t>
            </a:r>
          </a:p>
          <a:p>
            <a:pPr>
              <a:lnSpc>
                <a:spcPct val="150000"/>
              </a:lnSpc>
            </a:pPr>
            <a:r>
              <a:rPr lang="en-GB" dirty="0"/>
              <a:t>Stored in pickle format for (de-)serialisation/easy of load and reuse</a:t>
            </a:r>
          </a:p>
        </p:txBody>
      </p:sp>
    </p:spTree>
    <p:extLst>
      <p:ext uri="{BB962C8B-B14F-4D97-AF65-F5344CB8AC3E}">
        <p14:creationId xmlns:p14="http://schemas.microsoft.com/office/powerpoint/2010/main" val="18611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5226-49FF-3112-928F-5844B44A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Securities to Each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92D42-F8E1-CFB9-772B-989AC1844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25625"/>
            <a:ext cx="107442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GB" dirty="0"/>
              <a:t>We query the data structure designed in Part 1 to map securities</a:t>
            </a:r>
          </a:p>
          <a:p>
            <a:pPr>
              <a:lnSpc>
                <a:spcPct val="150000"/>
              </a:lnSpc>
            </a:pPr>
            <a:r>
              <a:rPr lang="en-GB" dirty="0"/>
              <a:t>There are 6 possible maps: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highlight>
                  <a:srgbClr val="FFFF00"/>
                </a:highlight>
              </a:rPr>
              <a:t>S -&gt; G</a:t>
            </a:r>
            <a:r>
              <a:rPr lang="en-GB" dirty="0"/>
              <a:t>, S -&gt; MG, </a:t>
            </a:r>
            <a:r>
              <a:rPr lang="en-GB" dirty="0">
                <a:highlight>
                  <a:srgbClr val="FFFF00"/>
                </a:highlight>
              </a:rPr>
              <a:t>G -&gt; S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G -&gt; MG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MG -&gt; G</a:t>
            </a:r>
            <a:r>
              <a:rPr lang="en-GB" dirty="0"/>
              <a:t>, MG -&gt; S</a:t>
            </a:r>
          </a:p>
          <a:p>
            <a:pPr>
              <a:lnSpc>
                <a:spcPct val="150000"/>
              </a:lnSpc>
            </a:pPr>
            <a:r>
              <a:rPr lang="en-GB" dirty="0"/>
              <a:t>We can focus on just one particular security type (each has 4 possible direct maps), and the remaining 2 maps follow</a:t>
            </a:r>
          </a:p>
          <a:p>
            <a:pPr>
              <a:lnSpc>
                <a:spcPct val="150000"/>
              </a:lnSpc>
            </a:pPr>
            <a:r>
              <a:rPr lang="en-GB" dirty="0"/>
              <a:t>E.g. if we pick all the maps for generic (highlighted), then the map of S to or from MG follow by composition S -&gt; G -&gt; MG or MG -&gt; G -&gt; S</a:t>
            </a:r>
          </a:p>
        </p:txBody>
      </p:sp>
    </p:spTree>
    <p:extLst>
      <p:ext uri="{BB962C8B-B14F-4D97-AF65-F5344CB8AC3E}">
        <p14:creationId xmlns:p14="http://schemas.microsoft.com/office/powerpoint/2010/main" val="4080901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E3E47-43AC-57F7-28C1-0793CB54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Securities to Each Other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E3754-4AB7-94D2-F2CD-516E2EC6E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Want to find </a:t>
            </a:r>
            <a:r>
              <a:rPr lang="en-GB" dirty="0">
                <a:highlight>
                  <a:srgbClr val="FFFF00"/>
                </a:highlight>
              </a:rPr>
              <a:t>S -&gt; G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G -&gt; S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G -&gt; MG</a:t>
            </a:r>
            <a:r>
              <a:rPr lang="en-GB" dirty="0"/>
              <a:t>, </a:t>
            </a:r>
            <a:r>
              <a:rPr lang="en-GB" dirty="0">
                <a:highlight>
                  <a:srgbClr val="FFFF00"/>
                </a:highlight>
              </a:rPr>
              <a:t>MG -&gt; G </a:t>
            </a:r>
            <a:r>
              <a:rPr lang="en-GB" dirty="0"/>
              <a:t>(generic direct maps)</a:t>
            </a:r>
          </a:p>
          <a:p>
            <a:r>
              <a:rPr lang="en-GB" dirty="0"/>
              <a:t>Define all 6 possible maps (including MG -&gt; S, S -&gt; MG) to be ‘child functions’</a:t>
            </a:r>
          </a:p>
          <a:p>
            <a:pPr lvl="1"/>
            <a:r>
              <a:rPr lang="en-GB" dirty="0"/>
              <a:t>Query the data structure using the child functions</a:t>
            </a:r>
          </a:p>
          <a:p>
            <a:r>
              <a:rPr lang="en-GB" dirty="0"/>
              <a:t>Have a more flexible parent function(security, input security type, input date (range))</a:t>
            </a:r>
          </a:p>
          <a:p>
            <a:pPr lvl="1"/>
            <a:r>
              <a:rPr lang="en-GB" dirty="0"/>
              <a:t>Maps any security to the remaining two</a:t>
            </a:r>
          </a:p>
          <a:p>
            <a:pPr lvl="1"/>
            <a:r>
              <a:rPr lang="en-GB" dirty="0"/>
              <a:t>Determines which child functions are called</a:t>
            </a:r>
          </a:p>
          <a:p>
            <a:r>
              <a:rPr lang="en-GB" dirty="0"/>
              <a:t>Final return: two dictionaries with input dates (in a range) as keys, and forms you map to (i.e. 2 of S/G/MG forms) as values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003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9584-5AC5-1890-1244-23CADE58E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Securities to Each Other (Example Output)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0CF22-50E0-439F-EEEF-36196B30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dirty="0" err="1">
                <a:solidFill>
                  <a:srgbClr val="8888C6"/>
                </a:solidFill>
                <a:latin typeface="JetBrains Mono"/>
              </a:rPr>
              <a:t>querying_interface</a:t>
            </a:r>
            <a:r>
              <a:rPr lang="en-GB" sz="2400" dirty="0">
                <a:solidFill>
                  <a:srgbClr val="8888C6"/>
                </a:solidFill>
                <a:latin typeface="JetBrains Mono"/>
              </a:rPr>
              <a:t>('COJAN2', 'monthly generic', '2024/11/28-2024/12/07’)</a:t>
            </a:r>
          </a:p>
          <a:p>
            <a:pPr marL="0" indent="0">
              <a:buNone/>
            </a:pPr>
            <a:r>
              <a:rPr lang="en-GB" sz="2400" dirty="0"/>
              <a:t>returns the two dictionaries for specific and generic forms: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600" dirty="0"/>
              <a:t>({'2024-11-28': 'COF26', '2024-11-29': 'COF27', '2024-11-30': 'COF27', '2024-12-01': 'COF27', '2024-12-02': 'COF27', '2024-12-03': 'COF27', '2024-12-04': 'COF27', '2024-12-05': 'COF27', '2024-12-06': 'COF27', '2024-12-07': 'COF27'}, {'2024-11-28': 'CO13', '2024-11-29': 'CO24', '2024-11-30': 'CO24', '2024-12-01': 'CO24', '2024-12-02': 'CO24', '2024-12-03': 'CO24', '2024-12-04': 'CO24', '2024-12-05': 'CO24', '2024-12-06': 'CO24', '2024-12-07': 'CO24’})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 err="1">
                <a:solidFill>
                  <a:srgbClr val="8888C6"/>
                </a:solidFill>
                <a:latin typeface="JetBrains Mono"/>
              </a:rPr>
              <a:t>querying_interface</a:t>
            </a:r>
            <a:r>
              <a:rPr lang="en-GB" sz="2400" dirty="0">
                <a:solidFill>
                  <a:srgbClr val="8888C6"/>
                </a:solidFill>
                <a:latin typeface="JetBrains Mono"/>
              </a:rPr>
              <a:t>('COJAN2', 'monthly generic', '2024/11/28’)</a:t>
            </a:r>
            <a:endParaRPr lang="en-GB" sz="1600" dirty="0">
              <a:solidFill>
                <a:srgbClr val="A9B7C6"/>
              </a:solidFill>
              <a:latin typeface="JetBrains Mono"/>
            </a:endParaRPr>
          </a:p>
          <a:p>
            <a:pPr marL="0" indent="0">
              <a:buNone/>
            </a:pPr>
            <a:r>
              <a:rPr lang="en-GB" sz="2400" dirty="0"/>
              <a:t>is a single date query which would also work: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1600" dirty="0"/>
              <a:t>({'2024-11-28': 'COF26'}, {'2024-11-28': 'CO13’})</a:t>
            </a:r>
          </a:p>
          <a:p>
            <a:r>
              <a:rPr lang="en-GB" sz="2400" dirty="0"/>
              <a:t>All queries execute in roughly 3ms</a:t>
            </a:r>
          </a:p>
          <a:p>
            <a:pPr marL="0" indent="0">
              <a:buNone/>
            </a:pPr>
            <a:endParaRPr lang="en-GB" sz="1600" dirty="0"/>
          </a:p>
          <a:p>
            <a:pPr marL="0" indent="0">
              <a:buNone/>
            </a:pPr>
            <a:endParaRPr lang="en-GB" sz="1600" dirty="0">
              <a:solidFill>
                <a:srgbClr val="A9B7C6"/>
              </a:solidFill>
              <a:effectLst/>
              <a:latin typeface="JetBrains Mono"/>
            </a:endParaRPr>
          </a:p>
          <a:p>
            <a:pPr marL="0" indent="0">
              <a:buNone/>
            </a:pPr>
            <a:endParaRPr lang="en-GB" sz="1600" dirty="0">
              <a:solidFill>
                <a:srgbClr val="A9B7C6"/>
              </a:solidFill>
              <a:latin typeface="JetBrains Mono"/>
            </a:endParaRP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9496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C5CF-C6B4-54EC-4183-DACE9631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Intraday Seasonality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7A7F3-C011-5ED7-F7E1-161AEB199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First filter for the data we want: specific, within input time range</a:t>
            </a:r>
          </a:p>
          <a:p>
            <a:r>
              <a:rPr lang="en-GB" dirty="0"/>
              <a:t>Use dictionaries from task 1 to slice the </a:t>
            </a:r>
            <a:r>
              <a:rPr lang="en-GB" dirty="0" err="1"/>
              <a:t>df</a:t>
            </a:r>
            <a:endParaRPr lang="en-GB" dirty="0"/>
          </a:p>
          <a:p>
            <a:r>
              <a:rPr lang="en-GB" dirty="0"/>
              <a:t>Map any (monthly) generic or specific onto the specific, if it exists within the time range</a:t>
            </a:r>
          </a:p>
          <a:p>
            <a:r>
              <a:rPr lang="en-GB" dirty="0"/>
              <a:t>Need to use both MG -&gt; S, G -&gt; S maps from task 1</a:t>
            </a:r>
          </a:p>
          <a:p>
            <a:r>
              <a:rPr lang="en-GB" dirty="0"/>
              <a:t>Be wary of the bounds of the data when mapping to specifics – some may not exist!</a:t>
            </a:r>
          </a:p>
          <a:p>
            <a:r>
              <a:rPr lang="en-GB" dirty="0"/>
              <a:t>Open - Open except at 19:00:00, in which case Close - Open</a:t>
            </a:r>
          </a:p>
          <a:p>
            <a:r>
              <a:rPr lang="en-GB" dirty="0" err="1"/>
              <a:t>cumsum</a:t>
            </a:r>
            <a:r>
              <a:rPr lang="en-GB" dirty="0"/>
              <a:t>() the price changes for individual date to get value</a:t>
            </a:r>
          </a:p>
        </p:txBody>
      </p:sp>
    </p:spTree>
    <p:extLst>
      <p:ext uri="{BB962C8B-B14F-4D97-AF65-F5344CB8AC3E}">
        <p14:creationId xmlns:p14="http://schemas.microsoft.com/office/powerpoint/2010/main" val="3419929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B7F1-4D29-0CCA-FFEC-EC38C2CA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Intraday Seasonality Plot (example output)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54C9C-2D1C-0BBF-9070-0705A0F52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60258"/>
            <a:ext cx="10515600" cy="1427982"/>
          </a:xfrm>
        </p:spPr>
        <p:txBody>
          <a:bodyPr/>
          <a:lstStyle/>
          <a:p>
            <a:r>
              <a:rPr lang="en-GB" dirty="0"/>
              <a:t>Flexible input parameters</a:t>
            </a:r>
          </a:p>
          <a:p>
            <a:r>
              <a:rPr lang="en-GB" dirty="0"/>
              <a:t>If out of bounds of data or contract expired, plot will not show for those dates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A7DC91-62A4-3CC8-2670-A4E7210F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63" y="1765587"/>
            <a:ext cx="10043273" cy="341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74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A4362-58F6-90FC-DE09-979F7D46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Time Spreads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90BE-9E08-2C2A-B2A4-67EB22911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04394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From a tuple we can get two monthly generic forms e.g. (‘DEC’, ’JUN’) can give us CODEC1 and COJUN1 for crude oil</a:t>
            </a:r>
          </a:p>
          <a:p>
            <a:pPr>
              <a:lnSpc>
                <a:spcPct val="110000"/>
              </a:lnSpc>
            </a:pPr>
            <a:r>
              <a:rPr lang="en-GB" dirty="0"/>
              <a:t>Output a specific spread, e.g. ['COZ25', 'COM26’], for which the corresponding prices can be found (if given the data)</a:t>
            </a:r>
          </a:p>
          <a:p>
            <a:pPr>
              <a:lnSpc>
                <a:spcPct val="110000"/>
              </a:lnSpc>
            </a:pPr>
            <a:r>
              <a:rPr lang="en-GB" dirty="0"/>
              <a:t>Given (</a:t>
            </a:r>
            <a:r>
              <a:rPr lang="en-GB" dirty="0" err="1"/>
              <a:t>monthA,monthB</a:t>
            </a:r>
            <a:r>
              <a:rPr lang="en-GB" dirty="0"/>
              <a:t>), look at the expiry dates of CO{</a:t>
            </a:r>
            <a:r>
              <a:rPr lang="en-GB" dirty="0" err="1"/>
              <a:t>monthA</a:t>
            </a:r>
            <a:r>
              <a:rPr lang="en-GB" dirty="0"/>
              <a:t>}1 and CO{</a:t>
            </a:r>
            <a:r>
              <a:rPr lang="en-GB" dirty="0" err="1"/>
              <a:t>monthB</a:t>
            </a:r>
            <a:r>
              <a:rPr lang="en-GB" dirty="0"/>
              <a:t>}1 in relation to the input date to determine the spread</a:t>
            </a:r>
          </a:p>
          <a:p>
            <a:pPr>
              <a:lnSpc>
                <a:spcPct val="110000"/>
              </a:lnSpc>
            </a:pPr>
            <a:r>
              <a:rPr lang="en-GB" dirty="0"/>
              <a:t>If </a:t>
            </a:r>
            <a:r>
              <a:rPr lang="en-GB" dirty="0" err="1"/>
              <a:t>exp_date</a:t>
            </a:r>
            <a:r>
              <a:rPr lang="en-GB" dirty="0"/>
              <a:t> of CO {</a:t>
            </a:r>
            <a:r>
              <a:rPr lang="en-GB" dirty="0" err="1"/>
              <a:t>monthA</a:t>
            </a:r>
            <a:r>
              <a:rPr lang="en-GB" dirty="0"/>
              <a:t>} 1 &lt; </a:t>
            </a:r>
            <a:r>
              <a:rPr lang="en-GB" dirty="0" err="1"/>
              <a:t>exp_date</a:t>
            </a:r>
            <a:r>
              <a:rPr lang="en-GB" dirty="0"/>
              <a:t> of CO {</a:t>
            </a:r>
            <a:r>
              <a:rPr lang="en-GB" dirty="0" err="1"/>
              <a:t>monthB</a:t>
            </a:r>
            <a:r>
              <a:rPr lang="en-GB" dirty="0"/>
              <a:t>} 1, find the specifics for CO {</a:t>
            </a:r>
            <a:r>
              <a:rPr lang="en-GB" dirty="0" err="1"/>
              <a:t>monthA</a:t>
            </a:r>
            <a:r>
              <a:rPr lang="en-GB" dirty="0"/>
              <a:t>}1, CO {</a:t>
            </a:r>
            <a:r>
              <a:rPr lang="en-GB" dirty="0" err="1"/>
              <a:t>monthB</a:t>
            </a:r>
            <a:r>
              <a:rPr lang="en-GB" dirty="0"/>
              <a:t>} 1 in that order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Gives CO {</a:t>
            </a:r>
            <a:r>
              <a:rPr lang="en-GB" dirty="0" err="1"/>
              <a:t>monthA</a:t>
            </a:r>
            <a:r>
              <a:rPr lang="en-GB" dirty="0"/>
              <a:t>} {</a:t>
            </a:r>
            <a:r>
              <a:rPr lang="en-GB" dirty="0" err="1"/>
              <a:t>monthB</a:t>
            </a:r>
            <a:r>
              <a:rPr lang="en-GB" dirty="0"/>
              <a:t>}1, CO {</a:t>
            </a:r>
            <a:r>
              <a:rPr lang="en-GB" dirty="0" err="1"/>
              <a:t>monthA</a:t>
            </a:r>
            <a:r>
              <a:rPr lang="en-GB" dirty="0"/>
              <a:t>}1{</a:t>
            </a:r>
            <a:r>
              <a:rPr lang="en-GB" dirty="0" err="1"/>
              <a:t>monthB</a:t>
            </a:r>
            <a:r>
              <a:rPr lang="en-GB" dirty="0"/>
              <a:t>}1</a:t>
            </a:r>
          </a:p>
          <a:p>
            <a:pPr>
              <a:lnSpc>
                <a:spcPct val="110000"/>
              </a:lnSpc>
            </a:pPr>
            <a:r>
              <a:rPr lang="en-GB" dirty="0"/>
              <a:t>If </a:t>
            </a:r>
            <a:r>
              <a:rPr lang="en-GB" dirty="0" err="1"/>
              <a:t>exp_date</a:t>
            </a:r>
            <a:r>
              <a:rPr lang="en-GB" dirty="0"/>
              <a:t> of CO {</a:t>
            </a:r>
            <a:r>
              <a:rPr lang="en-GB" dirty="0" err="1"/>
              <a:t>monthB</a:t>
            </a:r>
            <a:r>
              <a:rPr lang="en-GB" dirty="0"/>
              <a:t>}1 &lt; </a:t>
            </a:r>
            <a:r>
              <a:rPr lang="en-GB" dirty="0" err="1"/>
              <a:t>exp_date</a:t>
            </a:r>
            <a:r>
              <a:rPr lang="en-GB" dirty="0"/>
              <a:t> of CO {</a:t>
            </a:r>
            <a:r>
              <a:rPr lang="en-GB" dirty="0" err="1"/>
              <a:t>monthA</a:t>
            </a:r>
            <a:r>
              <a:rPr lang="en-GB" dirty="0"/>
              <a:t>}1, find the specifics for CO {</a:t>
            </a:r>
            <a:r>
              <a:rPr lang="en-GB" dirty="0" err="1"/>
              <a:t>monthA</a:t>
            </a:r>
            <a:r>
              <a:rPr lang="en-GB" dirty="0"/>
              <a:t>} 1, CO {</a:t>
            </a:r>
            <a:r>
              <a:rPr lang="en-GB" dirty="0" err="1"/>
              <a:t>monthB</a:t>
            </a:r>
            <a:r>
              <a:rPr lang="en-GB" dirty="0"/>
              <a:t>} 2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Gives CO {</a:t>
            </a:r>
            <a:r>
              <a:rPr lang="en-GB" dirty="0" err="1"/>
              <a:t>monthA</a:t>
            </a:r>
            <a:r>
              <a:rPr lang="en-GB" dirty="0"/>
              <a:t>} {</a:t>
            </a:r>
            <a:r>
              <a:rPr lang="en-GB" dirty="0" err="1"/>
              <a:t>monthB</a:t>
            </a:r>
            <a:r>
              <a:rPr lang="en-GB" dirty="0"/>
              <a:t>}1, CO {</a:t>
            </a:r>
            <a:r>
              <a:rPr lang="en-GB" dirty="0" err="1"/>
              <a:t>monthA</a:t>
            </a:r>
            <a:r>
              <a:rPr lang="en-GB" dirty="0"/>
              <a:t>}1{</a:t>
            </a:r>
            <a:r>
              <a:rPr lang="en-GB" dirty="0" err="1"/>
              <a:t>monthB</a:t>
            </a:r>
            <a:r>
              <a:rPr lang="en-GB" dirty="0"/>
              <a:t>}2</a:t>
            </a:r>
          </a:p>
          <a:p>
            <a:pPr>
              <a:lnSpc>
                <a:spcPct val="110000"/>
              </a:lnSpc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968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AD49-D125-A211-FC7F-EC760290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Time Spreads (example output)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9B5B1-E5CE-9A8D-30C8-12F13BE38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 err="1">
                <a:solidFill>
                  <a:srgbClr val="A9B7C6"/>
                </a:solidFill>
                <a:effectLst/>
                <a:latin typeface="JetBrains Mono"/>
              </a:rPr>
              <a:t>get_spreads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"CO"</a:t>
            </a:r>
            <a:r>
              <a:rPr lang="en-GB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[(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'DEC'</a:t>
            </a:r>
            <a:r>
              <a:rPr lang="en-GB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'JUN'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lang="en-GB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'DEC'</a:t>
            </a:r>
            <a:r>
              <a:rPr lang="en-GB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'JUL'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)]</a:t>
            </a:r>
            <a:r>
              <a:rPr lang="en-GB" sz="2000" dirty="0"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lang="en-GB" sz="2000" dirty="0">
                <a:solidFill>
                  <a:srgbClr val="6A8759"/>
                </a:solidFill>
                <a:effectLst/>
                <a:latin typeface="JetBrains Mono"/>
              </a:rPr>
              <a:t>"2025/04/30"</a:t>
            </a:r>
            <a:r>
              <a:rPr lang="en-GB" sz="2000" dirty="0">
                <a:solidFill>
                  <a:srgbClr val="A9B7C6"/>
                </a:solidFill>
                <a:effectLst/>
                <a:latin typeface="JetBrains Mono"/>
              </a:rPr>
              <a:t>)</a:t>
            </a:r>
          </a:p>
          <a:p>
            <a:pPr marL="0" indent="0">
              <a:buNone/>
            </a:pPr>
            <a:r>
              <a:rPr lang="en-GB" sz="2400" dirty="0"/>
              <a:t>returns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s-ES" sz="2000" dirty="0"/>
              <a:t>{('CODECJUN1', 'CODEC1JUN1'): ['COZ25', 'COM26'], ('CODECJUL1', 'CODEC1JUL2'): ['COZ25', 'CON26’]}</a:t>
            </a:r>
          </a:p>
          <a:p>
            <a:pPr marL="0" indent="0">
              <a:buNone/>
            </a:pPr>
            <a:endParaRPr lang="es-ES" sz="2000" dirty="0"/>
          </a:p>
          <a:p>
            <a:pPr marL="0" indent="0">
              <a:buNone/>
            </a:pPr>
            <a:r>
              <a:rPr lang="es-ES" sz="2000" dirty="0"/>
              <a:t>(</a:t>
            </a:r>
            <a:r>
              <a:rPr lang="es-ES" sz="2000" dirty="0" err="1"/>
              <a:t>yet</a:t>
            </a:r>
            <a:r>
              <a:rPr lang="es-ES" sz="2000" dirty="0"/>
              <a:t> </a:t>
            </a:r>
            <a:r>
              <a:rPr lang="es-ES" sz="2000" dirty="0" err="1"/>
              <a:t>to</a:t>
            </a:r>
            <a:r>
              <a:rPr lang="es-ES" sz="2000" dirty="0"/>
              <a:t> </a:t>
            </a:r>
            <a:r>
              <a:rPr lang="es-ES" sz="2000" dirty="0" err="1"/>
              <a:t>find</a:t>
            </a:r>
            <a:r>
              <a:rPr lang="es-ES" sz="2000" dirty="0"/>
              <a:t> a </a:t>
            </a:r>
            <a:r>
              <a:rPr lang="es-ES" sz="2000" dirty="0" err="1"/>
              <a:t>way</a:t>
            </a:r>
            <a:r>
              <a:rPr lang="es-ES" sz="2000" dirty="0"/>
              <a:t> </a:t>
            </a:r>
            <a:r>
              <a:rPr lang="es-ES" sz="2000" dirty="0" err="1"/>
              <a:t>to</a:t>
            </a:r>
            <a:r>
              <a:rPr lang="es-ES" sz="2000" dirty="0"/>
              <a:t> do </a:t>
            </a:r>
            <a:r>
              <a:rPr lang="es-ES" sz="2000" dirty="0" err="1"/>
              <a:t>this</a:t>
            </a:r>
            <a:r>
              <a:rPr lang="es-ES" sz="2000" dirty="0"/>
              <a:t> </a:t>
            </a:r>
            <a:r>
              <a:rPr lang="es-ES" sz="2000" dirty="0" err="1"/>
              <a:t>without</a:t>
            </a:r>
            <a:r>
              <a:rPr lang="es-ES" sz="2000" dirty="0"/>
              <a:t> </a:t>
            </a:r>
            <a:r>
              <a:rPr lang="es-ES" sz="2000" dirty="0" err="1"/>
              <a:t>using</a:t>
            </a:r>
            <a:r>
              <a:rPr lang="es-ES" sz="2000" dirty="0"/>
              <a:t> </a:t>
            </a:r>
            <a:r>
              <a:rPr lang="es-ES" sz="2000" dirty="0" err="1"/>
              <a:t>the</a:t>
            </a:r>
            <a:r>
              <a:rPr lang="es-ES" sz="2000" dirty="0"/>
              <a:t> </a:t>
            </a:r>
            <a:r>
              <a:rPr lang="es-ES" sz="2000" dirty="0" err="1"/>
              <a:t>product</a:t>
            </a:r>
            <a:r>
              <a:rPr lang="es-ES" sz="2000" dirty="0"/>
              <a:t> </a:t>
            </a:r>
            <a:r>
              <a:rPr lang="es-ES" sz="2000" dirty="0" err="1"/>
              <a:t>code</a:t>
            </a:r>
            <a:r>
              <a:rPr lang="es-ES" sz="2000" dirty="0"/>
              <a:t> input)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14032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2E5E-3DB9-D353-E379-A29BD6B9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" y="355293"/>
            <a:ext cx="10803194" cy="1325563"/>
          </a:xfrm>
        </p:spPr>
        <p:txBody>
          <a:bodyPr/>
          <a:lstStyle/>
          <a:p>
            <a:r>
              <a:rPr lang="en-GB" dirty="0"/>
              <a:t>Intraday Cumulative Volumes vs Historical </a:t>
            </a:r>
            <a:r>
              <a:rPr lang="en-GB" dirty="0" err="1"/>
              <a:t>Avg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7C4EC-95FC-C051-1045-46281CC36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Get relevant filtered data – but using the function twice</a:t>
            </a:r>
          </a:p>
          <a:p>
            <a:pPr lvl="1"/>
            <a:r>
              <a:rPr lang="en-GB" dirty="0"/>
              <a:t>Once for getting data, as before, within the input date range (</a:t>
            </a:r>
            <a:r>
              <a:rPr lang="en-GB" dirty="0" err="1"/>
              <a:t>startdate-enddate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Another time for getting historical data &lt;= </a:t>
            </a:r>
            <a:r>
              <a:rPr lang="en-GB" dirty="0" err="1"/>
              <a:t>start_date</a:t>
            </a:r>
            <a:endParaRPr lang="en-GB" dirty="0"/>
          </a:p>
          <a:p>
            <a:r>
              <a:rPr lang="en-GB" dirty="0"/>
              <a:t>First dataset: group by the date and apply </a:t>
            </a:r>
            <a:r>
              <a:rPr lang="en-GB" dirty="0" err="1"/>
              <a:t>cumsum</a:t>
            </a:r>
            <a:r>
              <a:rPr lang="en-GB" dirty="0"/>
              <a:t>() on the volume for that specific contract</a:t>
            </a:r>
          </a:p>
          <a:p>
            <a:r>
              <a:rPr lang="en-GB" dirty="0"/>
              <a:t>Second dataset: find the average cumulative volume for each time (09:00 to 19:00) across all the dates</a:t>
            </a:r>
          </a:p>
          <a:p>
            <a:r>
              <a:rPr lang="en-GB" dirty="0"/>
              <a:t>Combine the datasets on the times, plot each column (including hist. </a:t>
            </a:r>
            <a:r>
              <a:rPr lang="en-GB" dirty="0" err="1"/>
              <a:t>avg</a:t>
            </a:r>
            <a:r>
              <a:rPr lang="en-GB" dirty="0"/>
              <a:t>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5139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2082-1372-E16B-3849-AAD9713F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Intraday Cumulative Volumes vs Historical </a:t>
            </a:r>
            <a:r>
              <a:rPr lang="en-GB" dirty="0" err="1"/>
              <a:t>Avg</a:t>
            </a:r>
            <a:r>
              <a:rPr lang="en-GB" dirty="0"/>
              <a:t> (example output)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BF597-E68A-8C63-5844-CEA1D3455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Done using matplotlib due to time constraint, but can easily be added to previous dash app</a:t>
            </a:r>
          </a:p>
          <a:p>
            <a:r>
              <a:rPr lang="en-GB" dirty="0"/>
              <a:t>We see that volumes consistently exceed the historical </a:t>
            </a:r>
            <a:r>
              <a:rPr lang="en-GB" dirty="0" err="1"/>
              <a:t>avg</a:t>
            </a:r>
            <a:r>
              <a:rPr lang="en-GB" dirty="0"/>
              <a:t> throughout the day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849DB-90C7-E487-DE77-A09A1634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919" y="3238526"/>
            <a:ext cx="6422571" cy="335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089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E3656-1126-9C19-87D1-05E9A75B8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CA3E0-D2CC-F974-C65B-F273920C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GB" dirty="0"/>
              <a:t>Aside from: analysis of price z-score of continuous front month contract/cumulative price moves over time frame</a:t>
            </a:r>
          </a:p>
          <a:p>
            <a:r>
              <a:rPr lang="en-GB" dirty="0"/>
              <a:t>VWAP as reflection of market sentiment – test entry/exit points</a:t>
            </a:r>
          </a:p>
          <a:p>
            <a:r>
              <a:rPr lang="en-GB" dirty="0"/>
              <a:t>Regress WTI on Brent, ADF test to see if the spread is stationary and whether mean-reversion can be traded on</a:t>
            </a:r>
          </a:p>
          <a:p>
            <a:r>
              <a:rPr lang="en-GB" dirty="0"/>
              <a:t>Integrate macroeconomic data e.g. effect of interest rates/inflation on long term trends of futures prices</a:t>
            </a:r>
          </a:p>
        </p:txBody>
      </p:sp>
    </p:spTree>
    <p:extLst>
      <p:ext uri="{BB962C8B-B14F-4D97-AF65-F5344CB8AC3E}">
        <p14:creationId xmlns:p14="http://schemas.microsoft.com/office/powerpoint/2010/main" val="1492389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1043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JetBrains Mono</vt:lpstr>
      <vt:lpstr>Office Theme</vt:lpstr>
      <vt:lpstr>Crude Oil Futures Case Study</vt:lpstr>
      <vt:lpstr>Data Structure Design</vt:lpstr>
      <vt:lpstr>Mapping Securities to Each Other</vt:lpstr>
      <vt:lpstr>Mapping Securities to Each Other (Continued)</vt:lpstr>
      <vt:lpstr>Mapping Securities to Each Other (Example Output)</vt:lpstr>
      <vt:lpstr>Intraday Seasonality Plot</vt:lpstr>
      <vt:lpstr>Intraday Seasonality Plot (example output)</vt:lpstr>
      <vt:lpstr>Getting Time Spreads</vt:lpstr>
      <vt:lpstr>Getting Time Spreads (example output)</vt:lpstr>
      <vt:lpstr>Intraday Cumulative Volumes vs Historical Avg</vt:lpstr>
      <vt:lpstr>Intraday Cumulative Volumes vs Historical Avg (example output)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Anantajit Raja</dc:creator>
  <cp:lastModifiedBy>Anantajit Raja</cp:lastModifiedBy>
  <cp:revision>4</cp:revision>
  <dcterms:created xsi:type="dcterms:W3CDTF">2025-01-29T20:47:13Z</dcterms:created>
  <dcterms:modified xsi:type="dcterms:W3CDTF">2025-02-12T14:38:36Z</dcterms:modified>
</cp:coreProperties>
</file>